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746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A84C"/>
          </a:solidFill>
          <a:ln w="12700">
            <a:solidFill>
              <a:srgbClr val="E8A84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6B3A2A">
              <a:alpha val="30000"/>
            </a:srgbClr>
          </a:solidFill>
          <a:ln w="12700">
            <a:solidFill>
              <a:srgbClr val="6B3A2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" name="Shape 2"/>
          <p:cNvSpPr/>
          <p:nvPr/>
        </p:nvSpPr>
        <p:spPr>
          <a:xfrm>
            <a:off x="8046720" y="2286000"/>
            <a:ext cx="2743200" cy="2743200"/>
          </a:xfrm>
          <a:prstGeom prst="ellipse">
            <a:avLst/>
          </a:prstGeom>
          <a:solidFill>
            <a:srgbClr val="C17F3E">
              <a:alpha val="25000"/>
            </a:srgbClr>
          </a:solidFill>
          <a:ln w="12700">
            <a:solidFill>
              <a:srgbClr val="C17F3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5" name="Shape 3"/>
          <p:cNvSpPr/>
          <p:nvPr/>
        </p:nvSpPr>
        <p:spPr>
          <a:xfrm>
            <a:off x="6615268" y="2560320"/>
            <a:ext cx="2011680" cy="2011680"/>
          </a:xfrm>
          <a:prstGeom prst="ellipse">
            <a:avLst/>
          </a:prstGeom>
          <a:solidFill>
            <a:srgbClr val="2D5016">
              <a:alpha val="40000"/>
            </a:srgbClr>
          </a:solidFill>
          <a:ln w="12700">
            <a:solidFill>
              <a:srgbClr val="2D50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 dirty="0"/>
          </a:p>
        </p:txBody>
      </p:sp>
      <p:sp>
        <p:nvSpPr>
          <p:cNvPr id="6" name="Text 4"/>
          <p:cNvSpPr/>
          <p:nvPr/>
        </p:nvSpPr>
        <p:spPr>
          <a:xfrm>
            <a:off x="36576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DIGITAL ID HACKATHON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Cacao Intelligent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IoT &amp; IA d'irrigation et pulvérisation intelligente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planteurs de cacao en Côte d'Ivoire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2286000" cy="36576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Innovators — ESATIC, Abidjan, Côte d'Ivoire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— Cacaoculture  |  Mars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ESATIC  ·  Digital ID Africa 2026  ·  Agriculture &amp; IoT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D'IVOIRE  |  AgriTech Innovators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ESATIC — École Supérieure Africaine des TIC, Abidjan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Équipe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54864" cy="123444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KESSIE Eric-Uriel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Innovators · ESATIC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6459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54864" cy="123444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DIARRASSOUBA Emmanuel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76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Mobile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487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Innovators · ESATIC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54864" cy="123444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KONAN Nethania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Backend et IoT</a:t>
            </a:r>
          </a:p>
        </p:txBody>
      </p:sp>
      <p:sp>
        <p:nvSpPr>
          <p:cNvPr id="20" name="Text 18"/>
          <p:cNvSpPr/>
          <p:nvPr/>
        </p:nvSpPr>
        <p:spPr>
          <a:xfrm>
            <a:off x="457200" y="39502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Innovators · ESATIC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54864" cy="123444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3" name="Text 21"/>
          <p:cNvSpPr/>
          <p:nvPr/>
        </p:nvSpPr>
        <p:spPr>
          <a:xfrm>
            <a:off x="4846320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COULIBALY Yasmine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Mobile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9502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Innovators · ESATIC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· IoT · Intelligence Artificielle · Identité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INTRODUCTION AU CAS D'USAGE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au Cas d'Usage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4008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 Intelligent — Plateforme IoT + IA + Identité Numérique pour les planteurs de cacao de Côte d'Ivoire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502920" cy="502920"/>
          </a:xfrm>
          <a:prstGeom prst="ellipse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7863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0" name="Shape 8"/>
          <p:cNvSpPr/>
          <p:nvPr/>
        </p:nvSpPr>
        <p:spPr>
          <a:xfrm>
            <a:off x="914400" y="1965960"/>
            <a:ext cx="45720" cy="713232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1" name="Text 9"/>
          <p:cNvSpPr/>
          <p:nvPr/>
        </p:nvSpPr>
        <p:spPr>
          <a:xfrm>
            <a:off x="1097280" y="20116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2677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d'1 million de planteurs ivoiriens prennent des décisions d'irrigation et de traitement sans données terrain — pertes de milliards FCFA/an (FAO, Conseil Café-Cacao CI)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62072"/>
            <a:ext cx="502920" cy="502920"/>
          </a:xfrm>
          <a:prstGeom prst="ellipse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4" name="Text 12"/>
          <p:cNvSpPr/>
          <p:nvPr/>
        </p:nvSpPr>
        <p:spPr>
          <a:xfrm>
            <a:off x="27432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816352"/>
            <a:ext cx="7863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6" name="Shape 14"/>
          <p:cNvSpPr/>
          <p:nvPr/>
        </p:nvSpPr>
        <p:spPr>
          <a:xfrm>
            <a:off x="914400" y="2816352"/>
            <a:ext cx="45720" cy="713232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7" name="Text 15"/>
          <p:cNvSpPr/>
          <p:nvPr/>
        </p:nvSpPr>
        <p:spPr>
          <a:xfrm>
            <a:off x="1097280" y="28620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1181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IoT ESP32 + modèles IA (Random Forest, MobileNetV2) = décisions d'irrigation, pulvérisation et détection de maladie en temps réel via SMS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712464"/>
            <a:ext cx="502920" cy="502920"/>
          </a:xfrm>
          <a:prstGeom prst="ellipse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0" name="Text 18"/>
          <p:cNvSpPr/>
          <p:nvPr/>
        </p:nvSpPr>
        <p:spPr>
          <a:xfrm>
            <a:off x="274320" y="3712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666744"/>
            <a:ext cx="7863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2" name="Shape 20"/>
          <p:cNvSpPr/>
          <p:nvPr/>
        </p:nvSpPr>
        <p:spPr>
          <a:xfrm>
            <a:off x="914400" y="3666744"/>
            <a:ext cx="45720" cy="713232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3" name="Text 21"/>
          <p:cNvSpPr/>
          <p:nvPr/>
        </p:nvSpPr>
        <p:spPr>
          <a:xfrm>
            <a:off x="1097280" y="371246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Rôle de l'ID Numérique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96849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agriculteur obtient un ID numérique (conforme SNOI-ANSI CI) lié à sa parcelle GPS, permettant la traçabilité complète et l'accès aux subventions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d'Ivoire — 1er producteur mondial de cacao (40% de la production mondiale)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IDENTIFIÉ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Problème Identifié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926080" cy="3383280"/>
          </a:xfrm>
          <a:prstGeom prst="rect">
            <a:avLst/>
          </a:prstGeom>
          <a:solidFill>
            <a:srgbClr val="6B3A2A">
              <a:alpha val="40000"/>
            </a:srgbClr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planteurs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affectés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Côte d'Ivoire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560320" cy="36576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274320" y="3154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7F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" y="3749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production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5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mondiale de cacao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234440"/>
            <a:ext cx="5394960" cy="566928"/>
          </a:xfrm>
          <a:prstGeom prst="rect">
            <a:avLst/>
          </a:prstGeom>
          <a:solidFill>
            <a:srgbClr val="6B3A2A">
              <a:alpha val="20000"/>
            </a:srgbClr>
          </a:solidFill>
          <a:ln w="12700">
            <a:solidFill>
              <a:srgbClr val="C17F3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2" name="Text 10"/>
          <p:cNvSpPr/>
          <p:nvPr/>
        </p:nvSpPr>
        <p:spPr>
          <a:xfrm>
            <a:off x="3657600" y="128930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Irrigation non ciblée — stress hydrique non détecté à temps, pertes de récolte importantes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0" y="1892808"/>
            <a:ext cx="5394960" cy="566928"/>
          </a:xfrm>
          <a:prstGeom prst="rect">
            <a:avLst/>
          </a:prstGeom>
          <a:solidFill>
            <a:srgbClr val="6B3A2A">
              <a:alpha val="20000"/>
            </a:srgbClr>
          </a:solidFill>
          <a:ln w="12700">
            <a:solidFill>
              <a:srgbClr val="C17F3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4" name="Text 12"/>
          <p:cNvSpPr/>
          <p:nvPr/>
        </p:nvSpPr>
        <p:spPr>
          <a:xfrm>
            <a:off x="3657600" y="19476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Application empirique des pesticides — gaspillages chimiques et risques environnementaux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2551176"/>
            <a:ext cx="5394960" cy="566928"/>
          </a:xfrm>
          <a:prstGeom prst="rect">
            <a:avLst/>
          </a:prstGeom>
          <a:solidFill>
            <a:srgbClr val="6B3A2A">
              <a:alpha val="20000"/>
            </a:srgbClr>
          </a:solidFill>
          <a:ln w="12700">
            <a:solidFill>
              <a:srgbClr val="C17F3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6" name="Text 14"/>
          <p:cNvSpPr/>
          <p:nvPr/>
        </p:nvSpPr>
        <p:spPr>
          <a:xfrm>
            <a:off x="3657600" y="2606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 Aucune donnée terrain en temps réel — décisions empiriques sans capteurs ni météo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0" y="3209544"/>
            <a:ext cx="5394960" cy="566928"/>
          </a:xfrm>
          <a:prstGeom prst="rect">
            <a:avLst/>
          </a:prstGeom>
          <a:solidFill>
            <a:srgbClr val="6B3A2A">
              <a:alpha val="20000"/>
            </a:srgbClr>
          </a:solidFill>
          <a:ln w="12700">
            <a:solidFill>
              <a:srgbClr val="C17F3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8" name="Text 16"/>
          <p:cNvSpPr/>
          <p:nvPr/>
        </p:nvSpPr>
        <p:spPr>
          <a:xfrm>
            <a:off x="3657600" y="326440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 Maladies (Blackpod/pourriture brune, Mirides) non diagnostiquées à temps = pertes économiques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0" y="3867912"/>
            <a:ext cx="5394960" cy="566928"/>
          </a:xfrm>
          <a:prstGeom prst="rect">
            <a:avLst/>
          </a:prstGeom>
          <a:solidFill>
            <a:srgbClr val="6B3A2A">
              <a:alpha val="20000"/>
            </a:srgbClr>
          </a:solidFill>
          <a:ln w="12700">
            <a:solidFill>
              <a:srgbClr val="C17F3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0" name="Text 18"/>
          <p:cNvSpPr/>
          <p:nvPr/>
        </p:nvSpPr>
        <p:spPr>
          <a:xfrm>
            <a:off x="3657600" y="392277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 Absence d'identité numérique formelle — exclusion des subventions et services financiers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0" y="457200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FAO · Conseil Café-Cacao CI · UNESCO · SODEXAM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Pertes estimées à plusieurs centaines de milliards FCFA/an — FAO &amp; Conseil Café-Cacao CI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Solution — Cacao Intelligent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4160520" cy="384048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7" name="Text 5"/>
          <p:cNvSpPr/>
          <p:nvPr/>
        </p:nvSpPr>
        <p:spPr>
          <a:xfrm>
            <a:off x="292608" y="11430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Module IoT — Capteurs Terrain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581912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DHT22 + Capteur humidité sol (Capacitive V1.2)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 GSM/LoRa — zones rurales sans WiFi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&lt; 400 000 FCFA par exploitation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toutes les 30 min → envoi API Flask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1430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4160520" cy="384048"/>
          </a:xfrm>
          <a:prstGeom prst="rect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1" name="Text 9"/>
          <p:cNvSpPr/>
          <p:nvPr/>
        </p:nvSpPr>
        <p:spPr>
          <a:xfrm>
            <a:off x="4727448" y="11430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Module IA — Décision Intelligente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81912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: irrigation (99% précision) &amp; pulvérisation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: détection maladies cabosse (en développement — V2)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saisons CI intégrées (WeatherSpark, FAO, SODEXAM)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SMS Twilio en temps réel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3154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4" name="Shape 12"/>
          <p:cNvSpPr/>
          <p:nvPr/>
        </p:nvSpPr>
        <p:spPr>
          <a:xfrm>
            <a:off x="182880" y="3154680"/>
            <a:ext cx="4160520" cy="384048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5" name="Text 13"/>
          <p:cNvSpPr/>
          <p:nvPr/>
        </p:nvSpPr>
        <p:spPr>
          <a:xfrm>
            <a:off x="292608" y="31546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Module ID Numérique &amp; Traçabilité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593592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numérique par agriculteur (conforme SNOI-ANSI CI)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Parcelle GPS + vérification EUDR (non-déforestation)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lot QR Code : champ → export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subventions et services financiers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3154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8" name="Shape 16"/>
          <p:cNvSpPr/>
          <p:nvPr/>
        </p:nvSpPr>
        <p:spPr>
          <a:xfrm>
            <a:off x="4617720" y="3154680"/>
            <a:ext cx="4160520" cy="384048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9" name="Text 17"/>
          <p:cNvSpPr/>
          <p:nvPr/>
        </p:nvSpPr>
        <p:spPr>
          <a:xfrm>
            <a:off x="4727448" y="31546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Conditions de Faisabilité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593592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Coopératives comme relais de déploiement terrain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GSM minimale sur les zones ciblées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simplifiée (interface SMS + icônes)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éprouvées, coût maîtrisé &lt; 400k FCFA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99% · ESP32 IoT · Twilio SMS · EUDR Compliant · MobileNetV2 (V2 prévu)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Technique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737360" cy="2286000"/>
          </a:xfrm>
          <a:prstGeom prst="rect">
            <a:avLst/>
          </a:prstGeom>
          <a:solidFill>
            <a:srgbClr val="C17F3E">
              <a:alpha val="80000"/>
            </a:srgbClr>
          </a:solidFill>
          <a:ln w="254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4630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DHT22, Hygromètre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GSM/LoRa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2304288"/>
            <a:ext cx="320040" cy="36576"/>
          </a:xfrm>
          <a:prstGeom prst="rect">
            <a:avLst/>
          </a:prstGeom>
          <a:solidFill>
            <a:srgbClr val="E8A84C"/>
          </a:solidFill>
          <a:ln w="12700">
            <a:solidFill>
              <a:srgbClr val="E8A84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0" name="Text 8"/>
          <p:cNvSpPr/>
          <p:nvPr/>
        </p:nvSpPr>
        <p:spPr>
          <a:xfrm>
            <a:off x="2331720" y="219456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4C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1737360" cy="2286000"/>
          </a:xfrm>
          <a:prstGeom prst="rect">
            <a:avLst/>
          </a:prstGeom>
          <a:solidFill>
            <a:srgbClr val="4A7C2F">
              <a:alpha val="80000"/>
            </a:srgbClr>
          </a:solidFill>
          <a:ln w="254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2" name="Text 10"/>
          <p:cNvSpPr/>
          <p:nvPr/>
        </p:nvSpPr>
        <p:spPr>
          <a:xfrm>
            <a:off x="2514600" y="1280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874520"/>
            <a:ext cx="14630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4" name="Text 12"/>
          <p:cNvSpPr/>
          <p:nvPr/>
        </p:nvSpPr>
        <p:spPr>
          <a:xfrm>
            <a:off x="2514600" y="1965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Python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5000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/decider /analyser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2304288"/>
            <a:ext cx="320040" cy="36576"/>
          </a:xfrm>
          <a:prstGeom prst="rect">
            <a:avLst/>
          </a:prstGeom>
          <a:solidFill>
            <a:srgbClr val="E8A84C"/>
          </a:solidFill>
          <a:ln w="12700">
            <a:solidFill>
              <a:srgbClr val="E8A84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6" name="Text 14"/>
          <p:cNvSpPr/>
          <p:nvPr/>
        </p:nvSpPr>
        <p:spPr>
          <a:xfrm>
            <a:off x="4480560" y="219456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4C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1737360" cy="2286000"/>
          </a:xfrm>
          <a:prstGeom prst="rect">
            <a:avLst/>
          </a:prstGeom>
          <a:solidFill>
            <a:srgbClr val="2D5016">
              <a:alpha val="80000"/>
            </a:srgbClr>
          </a:solidFill>
          <a:ln w="254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8" name="Text 16"/>
          <p:cNvSpPr/>
          <p:nvPr/>
        </p:nvSpPr>
        <p:spPr>
          <a:xfrm>
            <a:off x="4663440" y="1280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874520"/>
            <a:ext cx="14630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0" name="Text 18"/>
          <p:cNvSpPr/>
          <p:nvPr/>
        </p:nvSpPr>
        <p:spPr>
          <a:xfrm>
            <a:off x="4663440" y="1965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.pkl / .keras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46520" y="2304288"/>
            <a:ext cx="320040" cy="36576"/>
          </a:xfrm>
          <a:prstGeom prst="rect">
            <a:avLst/>
          </a:prstGeom>
          <a:solidFill>
            <a:srgbClr val="E8A84C"/>
          </a:solidFill>
          <a:ln w="12700">
            <a:solidFill>
              <a:srgbClr val="E8A84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2" name="Text 20"/>
          <p:cNvSpPr/>
          <p:nvPr/>
        </p:nvSpPr>
        <p:spPr>
          <a:xfrm>
            <a:off x="6629400" y="219456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4C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1188720"/>
            <a:ext cx="1737360" cy="2286000"/>
          </a:xfrm>
          <a:prstGeom prst="rect">
            <a:avLst/>
          </a:prstGeom>
          <a:solidFill>
            <a:srgbClr val="6B3A2A">
              <a:alpha val="80000"/>
            </a:srgbClr>
          </a:solidFill>
          <a:ln w="25400">
            <a:solidFill>
              <a:srgbClr val="6B3A2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4" name="Text 22"/>
          <p:cNvSpPr/>
          <p:nvPr/>
        </p:nvSpPr>
        <p:spPr>
          <a:xfrm>
            <a:off x="6812280" y="1280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1874520"/>
            <a:ext cx="14630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6" name="Text 24"/>
          <p:cNvSpPr/>
          <p:nvPr/>
        </p:nvSpPr>
        <p:spPr>
          <a:xfrm>
            <a:off x="6812280" y="1965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Graphes Plotly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1325880" cy="594360"/>
          </a:xfrm>
          <a:prstGeom prst="rect">
            <a:avLst/>
          </a:prstGeom>
          <a:solidFill>
            <a:srgbClr val="6B3A2A">
              <a:alpha val="60000"/>
            </a:srgbClr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8" name="Text 26"/>
          <p:cNvSpPr/>
          <p:nvPr/>
        </p:nvSpPr>
        <p:spPr>
          <a:xfrm>
            <a:off x="274320" y="367588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3977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5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737360" y="3657600"/>
            <a:ext cx="1325880" cy="594360"/>
          </a:xfrm>
          <a:prstGeom prst="rect">
            <a:avLst/>
          </a:prstGeom>
          <a:solidFill>
            <a:srgbClr val="6B3A2A">
              <a:alpha val="60000"/>
            </a:srgbClr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1" name="Text 29"/>
          <p:cNvSpPr/>
          <p:nvPr/>
        </p:nvSpPr>
        <p:spPr>
          <a:xfrm>
            <a:off x="1737360" y="367588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(V2)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37360" y="3977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5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0" y="3657600"/>
            <a:ext cx="1325880" cy="594360"/>
          </a:xfrm>
          <a:prstGeom prst="rect">
            <a:avLst/>
          </a:prstGeom>
          <a:solidFill>
            <a:srgbClr val="6B3A2A">
              <a:alpha val="60000"/>
            </a:srgbClr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4" name="Text 32"/>
          <p:cNvSpPr/>
          <p:nvPr/>
        </p:nvSpPr>
        <p:spPr>
          <a:xfrm>
            <a:off x="3200400" y="367588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3977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5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 API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3657600"/>
            <a:ext cx="1325880" cy="594360"/>
          </a:xfrm>
          <a:prstGeom prst="rect">
            <a:avLst/>
          </a:prstGeom>
          <a:solidFill>
            <a:srgbClr val="6B3A2A">
              <a:alpha val="60000"/>
            </a:srgbClr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7" name="Text 35"/>
          <p:cNvSpPr/>
          <p:nvPr/>
        </p:nvSpPr>
        <p:spPr>
          <a:xfrm>
            <a:off x="4663440" y="367588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3977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5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26480" y="3657600"/>
            <a:ext cx="1325880" cy="594360"/>
          </a:xfrm>
          <a:prstGeom prst="rect">
            <a:avLst/>
          </a:prstGeom>
          <a:solidFill>
            <a:srgbClr val="6B3A2A">
              <a:alpha val="60000"/>
            </a:srgbClr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0" name="Text 38"/>
          <p:cNvSpPr/>
          <p:nvPr/>
        </p:nvSpPr>
        <p:spPr>
          <a:xfrm>
            <a:off x="6126480" y="367588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Forest Watch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26480" y="3977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5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EUDR Check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589520" y="3657600"/>
            <a:ext cx="1325880" cy="594360"/>
          </a:xfrm>
          <a:prstGeom prst="rect">
            <a:avLst/>
          </a:prstGeom>
          <a:solidFill>
            <a:srgbClr val="6B3A2A">
              <a:alpha val="60000"/>
            </a:srgbClr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3" name="Text 41"/>
          <p:cNvSpPr/>
          <p:nvPr/>
        </p:nvSpPr>
        <p:spPr>
          <a:xfrm>
            <a:off x="7589520" y="367588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agriculteurs.json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589520" y="3977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5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→ IA Models → ESP32 → SMS → Dashboard Streamlit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Parcours Utilisateur — Konan, planteur à Soubré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6" name="Shape 4"/>
          <p:cNvSpPr/>
          <p:nvPr/>
        </p:nvSpPr>
        <p:spPr>
          <a:xfrm>
            <a:off x="256032" y="1344168"/>
            <a:ext cx="411480" cy="411480"/>
          </a:xfrm>
          <a:prstGeom prst="ellipse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7" name="Text 5"/>
          <p:cNvSpPr/>
          <p:nvPr/>
        </p:nvSpPr>
        <p:spPr>
          <a:xfrm>
            <a:off x="256032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Inscription &amp; ID Numérique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52704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Konan crée son compte avec son numéro de téléphone. Il reçoit son ID numérique CI-XXXXXXXX lié à sa parcelle GPS (Soubré : 5.78°N, -6.58°W)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1" name="Shape 9"/>
          <p:cNvSpPr/>
          <p:nvPr/>
        </p:nvSpPr>
        <p:spPr>
          <a:xfrm>
            <a:off x="4690872" y="1344168"/>
            <a:ext cx="411480" cy="411480"/>
          </a:xfrm>
          <a:prstGeom prst="ellipse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2" name="Text 10"/>
          <p:cNvSpPr/>
          <p:nvPr/>
        </p:nvSpPr>
        <p:spPr>
          <a:xfrm>
            <a:off x="4690872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1234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Capteurs ESP32 actifs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0" y="152704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capteurs IoT mesurent : humidité sol 28%, température 31°C, vent 5 km/h, pluie 0mm — et envoient les données à l'API via GSM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21488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6" name="Shape 14"/>
          <p:cNvSpPr/>
          <p:nvPr/>
        </p:nvSpPr>
        <p:spPr>
          <a:xfrm>
            <a:off x="256032" y="2350008"/>
            <a:ext cx="411480" cy="411480"/>
          </a:xfrm>
          <a:prstGeom prst="ellipse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7" name="Text 15"/>
          <p:cNvSpPr/>
          <p:nvPr/>
        </p:nvSpPr>
        <p:spPr>
          <a:xfrm>
            <a:off x="256032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240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Décision IA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253288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analyse : sol trop sec + pas de pluie prévue 24h → IRRIGUER recommandé (confiance 91%). Conflit géré : pulvérisation prioritaire si maladie détectée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17720" y="21488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1" name="Shape 19"/>
          <p:cNvSpPr/>
          <p:nvPr/>
        </p:nvSpPr>
        <p:spPr>
          <a:xfrm>
            <a:off x="4690872" y="2350008"/>
            <a:ext cx="411480" cy="411480"/>
          </a:xfrm>
          <a:prstGeom prst="ellipse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2" name="Text 20"/>
          <p:cNvSpPr/>
          <p:nvPr/>
        </p:nvSpPr>
        <p:spPr>
          <a:xfrm>
            <a:off x="4690872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240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Réception SMS + App Mobile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12080" y="253288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Konan reçoit : "CACAO IRRIGUER · Sol 28% · Conf 91%" — Il active la pompe depuis l'app mobile ou manuellement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31546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6" name="Shape 24"/>
          <p:cNvSpPr/>
          <p:nvPr/>
        </p:nvSpPr>
        <p:spPr>
          <a:xfrm>
            <a:off x="256032" y="3355848"/>
            <a:ext cx="411480" cy="411480"/>
          </a:xfrm>
          <a:prstGeom prst="ellipse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7" name="Text 25"/>
          <p:cNvSpPr/>
          <p:nvPr/>
        </p:nvSpPr>
        <p:spPr>
          <a:xfrm>
            <a:off x="256032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2461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Traçabilité de la Récolte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353872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récolte, Konan déclare son lot (LOT-CI-2026-XXXX) + QR Code généré. Statut : En Attente → Collecté → En Transit → Exporté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31546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31" name="Shape 29"/>
          <p:cNvSpPr/>
          <p:nvPr/>
        </p:nvSpPr>
        <p:spPr>
          <a:xfrm>
            <a:off x="4690872" y="3355848"/>
            <a:ext cx="411480" cy="411480"/>
          </a:xfrm>
          <a:prstGeom prst="ellipse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2" name="Text 30"/>
          <p:cNvSpPr/>
          <p:nvPr/>
        </p:nvSpPr>
        <p:spPr>
          <a:xfrm>
            <a:off x="4690872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2461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Conformité EUDR &amp; DDS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12080" y="353872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automatique via Global Forest Watch. Si CONFORME : téléchargement du Due Diligence Statement PDF réglementaire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Numérique → Capteurs IoT → Décision IA → SMS → Traçabilité → Conformité EUDR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POTENTIEL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Potentiel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1645920"/>
          </a:xfrm>
          <a:prstGeom prst="rect">
            <a:avLst/>
          </a:prstGeom>
          <a:solidFill>
            <a:srgbClr val="C17F3E">
              <a:alpha val="75000"/>
            </a:srgbClr>
          </a:solidFill>
          <a:ln w="25400">
            <a:solidFill>
              <a:srgbClr val="C17F3E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Planteurs ciblés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Côte d'Ivoire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1188720"/>
            <a:ext cx="1920240" cy="1645920"/>
          </a:xfrm>
          <a:prstGeom prst="rect">
            <a:avLst/>
          </a:prstGeom>
          <a:solidFill>
            <a:srgbClr val="4A7C2F">
              <a:alpha val="75000"/>
            </a:srgbClr>
          </a:solidFill>
          <a:ln w="25400">
            <a:solidFill>
              <a:srgbClr val="4A7C2F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2423160" y="13258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production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mondiale de cacao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1920240" cy="1645920"/>
          </a:xfrm>
          <a:prstGeom prst="rect">
            <a:avLst/>
          </a:prstGeom>
          <a:solidFill>
            <a:srgbClr val="2D5016">
              <a:alpha val="75000"/>
            </a:srgbClr>
          </a:solidFill>
          <a:ln w="25400">
            <a:solidFill>
              <a:srgbClr val="2D5016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2" name="Text 10"/>
          <p:cNvSpPr/>
          <p:nvPr/>
        </p:nvSpPr>
        <p:spPr>
          <a:xfrm>
            <a:off x="4572000" y="13258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modèle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irrigration IA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1188720"/>
            <a:ext cx="1920240" cy="1645920"/>
          </a:xfrm>
          <a:prstGeom prst="rect">
            <a:avLst/>
          </a:prstGeom>
          <a:solidFill>
            <a:srgbClr val="6B3A2A">
              <a:alpha val="75000"/>
            </a:srgbClr>
          </a:solidFill>
          <a:ln w="25400">
            <a:solidFill>
              <a:srgbClr val="6B3A2A"/>
            </a:solidFill>
            <a:prstDash val="solid"/>
          </a:ln>
          <a:effectLst>
            <a:outerShdw blurRad="101600" dist="38100" dir="8100000" algn="bl" rotWithShape="0">
              <a:srgbClr val="2C1810">
                <a:alpha val="12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5" name="Text 13"/>
          <p:cNvSpPr/>
          <p:nvPr/>
        </p:nvSpPr>
        <p:spPr>
          <a:xfrm>
            <a:off x="6720840" y="13258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&lt;400k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FCFA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2084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matériel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exploitation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4160520" cy="658368"/>
          </a:xfrm>
          <a:prstGeom prst="rect">
            <a:avLst/>
          </a:prstGeom>
          <a:solidFill>
            <a:srgbClr val="6B3A2A">
              <a:alpha val="30000"/>
            </a:srgbClr>
          </a:solidFill>
          <a:ln w="12700">
            <a:solidFill>
              <a:srgbClr val="C17F3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8" name="Text 16"/>
          <p:cNvSpPr/>
          <p:nvPr/>
        </p:nvSpPr>
        <p:spPr>
          <a:xfrm>
            <a:off x="384048" y="30175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Environnemental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246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30-40% des intrants chimiques grâce aux décisions ciblées (FAO). Protection de la biodiversité et conformité EUDR pour l'accès au marché européen.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160520" cy="658368"/>
          </a:xfrm>
          <a:prstGeom prst="rect">
            <a:avLst/>
          </a:prstGeom>
          <a:solidFill>
            <a:srgbClr val="6B3A2A">
              <a:alpha val="30000"/>
            </a:srgbClr>
          </a:solidFill>
          <a:ln w="12700">
            <a:solidFill>
              <a:srgbClr val="C17F3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1" name="Text 19"/>
          <p:cNvSpPr/>
          <p:nvPr/>
        </p:nvSpPr>
        <p:spPr>
          <a:xfrm>
            <a:off x="4864608" y="30175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Économique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64608" y="3246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Hausse estimée de 15-25% des rendements (Conseil Café-Cacao CI). Accès aux subventions via ID numérique SNOI. Traçabilité pour accès au prix garanti bord champ.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721608"/>
            <a:ext cx="4160520" cy="658368"/>
          </a:xfrm>
          <a:prstGeom prst="rect">
            <a:avLst/>
          </a:prstGeom>
          <a:solidFill>
            <a:srgbClr val="6B3A2A">
              <a:alpha val="30000"/>
            </a:srgbClr>
          </a:solidFill>
          <a:ln w="12700">
            <a:solidFill>
              <a:srgbClr val="C17F3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4" name="Text 22"/>
          <p:cNvSpPr/>
          <p:nvPr/>
        </p:nvSpPr>
        <p:spPr>
          <a:xfrm>
            <a:off x="384048" y="37673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Social &amp; Inclusion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39959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numérique pour 1M+ planteurs exclus du système formel. Femmes et petits producteurs accèdent aux services financiers et coopératives grâce au digital.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3721608"/>
            <a:ext cx="4160520" cy="658368"/>
          </a:xfrm>
          <a:prstGeom prst="rect">
            <a:avLst/>
          </a:prstGeom>
          <a:solidFill>
            <a:srgbClr val="6B3A2A">
              <a:alpha val="30000"/>
            </a:srgbClr>
          </a:solidFill>
          <a:ln w="12700">
            <a:solidFill>
              <a:srgbClr val="C17F3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7" name="Text 25"/>
          <p:cNvSpPr/>
          <p:nvPr/>
        </p:nvSpPr>
        <p:spPr>
          <a:xfrm>
            <a:off x="4864608" y="37673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Réglementaire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39959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EUDR 2023/1115 automatisée via Global Forest Watch. Génération du Due Diligence Statement PDF — maintien de l'accès au marché européen.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FAO · Conseil Café-Cacao CI · ICCO · ANSI CI · EUDR 2023/1115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&amp; PARTIES PRENANTES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Défis &amp; Cartographie des Parties Prenantes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2852928" cy="347472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487168" cy="347472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8" name="Text 6"/>
          <p:cNvSpPr/>
          <p:nvPr/>
        </p:nvSpPr>
        <p:spPr>
          <a:xfrm>
            <a:off x="3383280" y="1143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761488" cy="347472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0" name="Text 8"/>
          <p:cNvSpPr/>
          <p:nvPr/>
        </p:nvSpPr>
        <p:spPr>
          <a:xfrm>
            <a:off x="6126480" y="1143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Prenante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536192"/>
            <a:ext cx="28529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2" name="Text 10"/>
          <p:cNvSpPr/>
          <p:nvPr/>
        </p:nvSpPr>
        <p:spPr>
          <a:xfrm>
            <a:off x="274320" y="1581912"/>
            <a:ext cx="2697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technologique par les agriculteurs faiblement alphabétisés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536192"/>
            <a:ext cx="24871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4" name="Text 12"/>
          <p:cNvSpPr/>
          <p:nvPr/>
        </p:nvSpPr>
        <p:spPr>
          <a:xfrm>
            <a:off x="3383280" y="1581912"/>
            <a:ext cx="2331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SMS + icônes visuelles. Formation via coopératives. App simple et hors-ligne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35040" y="1536192"/>
            <a:ext cx="276148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6" name="Text 14"/>
          <p:cNvSpPr/>
          <p:nvPr/>
        </p:nvSpPr>
        <p:spPr>
          <a:xfrm>
            <a:off x="6126480" y="1581912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Coopératives cacaoyères CI · Conseil Café-Cacao · ONGs agri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2286000"/>
            <a:ext cx="2852928" cy="694944"/>
          </a:xfrm>
          <a:prstGeom prst="rect">
            <a:avLst/>
          </a:prstGeom>
          <a:solidFill>
            <a:srgbClr val="F5ECD7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8" name="Text 16"/>
          <p:cNvSpPr/>
          <p:nvPr/>
        </p:nvSpPr>
        <p:spPr>
          <a:xfrm>
            <a:off x="274320" y="2331720"/>
            <a:ext cx="2697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 réseau en zones rurales reculées (sans WiFi)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2286000"/>
            <a:ext cx="2487168" cy="694944"/>
          </a:xfrm>
          <a:prstGeom prst="rect">
            <a:avLst/>
          </a:prstGeom>
          <a:solidFill>
            <a:srgbClr val="F5ECD7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0" name="Text 18"/>
          <p:cNvSpPr/>
          <p:nvPr/>
        </p:nvSpPr>
        <p:spPr>
          <a:xfrm>
            <a:off x="3383280" y="2331720"/>
            <a:ext cx="2331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GSM/LoRa sur l'ESP32. Fonctionne sans internet. Données synchronisées à reconnexion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5040" y="2286000"/>
            <a:ext cx="2761488" cy="694944"/>
          </a:xfrm>
          <a:prstGeom prst="rect">
            <a:avLst/>
          </a:prstGeom>
          <a:solidFill>
            <a:srgbClr val="F5ECD7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2" name="Text 20"/>
          <p:cNvSpPr/>
          <p:nvPr/>
        </p:nvSpPr>
        <p:spPr>
          <a:xfrm>
            <a:off x="6126480" y="2331720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CI · MTN CI · Ministère Télécoms CI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3035808"/>
            <a:ext cx="28529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4" name="Text 22"/>
          <p:cNvSpPr/>
          <p:nvPr/>
        </p:nvSpPr>
        <p:spPr>
          <a:xfrm>
            <a:off x="274320" y="3081528"/>
            <a:ext cx="2697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et déploiement à grande échelle (1M+ planteurs)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0" y="3035808"/>
            <a:ext cx="24871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6" name="Text 24"/>
          <p:cNvSpPr/>
          <p:nvPr/>
        </p:nvSpPr>
        <p:spPr>
          <a:xfrm>
            <a:off x="3383280" y="3081528"/>
            <a:ext cx="2331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via coopératives existantes. Coût &lt; 400k FCFA/exploitation. Modèle SaaS (V2 prévu)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35040" y="3035808"/>
            <a:ext cx="276148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8" name="Text 26"/>
          <p:cNvSpPr/>
          <p:nvPr/>
        </p:nvSpPr>
        <p:spPr>
          <a:xfrm>
            <a:off x="6126480" y="308152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CI · Banque Mondiale · USAID · CGIAR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2880" y="3785616"/>
            <a:ext cx="2852928" cy="694944"/>
          </a:xfrm>
          <a:prstGeom prst="rect">
            <a:avLst/>
          </a:prstGeom>
          <a:solidFill>
            <a:srgbClr val="F5ECD7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0" name="Text 28"/>
          <p:cNvSpPr/>
          <p:nvPr/>
        </p:nvSpPr>
        <p:spPr>
          <a:xfrm>
            <a:off x="274320" y="3831336"/>
            <a:ext cx="2697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Contrefaçons de pesticides (limitation V1 assumée)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91840" y="3785616"/>
            <a:ext cx="2487168" cy="694944"/>
          </a:xfrm>
          <a:prstGeom prst="rect">
            <a:avLst/>
          </a:prstGeom>
          <a:solidFill>
            <a:srgbClr val="F5ECD7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2" name="Text 30"/>
          <p:cNvSpPr/>
          <p:nvPr/>
        </p:nvSpPr>
        <p:spPr>
          <a:xfrm>
            <a:off x="3383280" y="3831336"/>
            <a:ext cx="2331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: Marketplace de fournisseurs certifiés intégrée dans l'app (Conseil Café-Cacao CI)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35040" y="3785616"/>
            <a:ext cx="2761488" cy="694944"/>
          </a:xfrm>
          <a:prstGeom prst="rect">
            <a:avLst/>
          </a:prstGeom>
          <a:solidFill>
            <a:srgbClr val="F5ECD7"/>
          </a:solidFill>
          <a:ln w="1270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4" name="Text 32"/>
          <p:cNvSpPr/>
          <p:nvPr/>
        </p:nvSpPr>
        <p:spPr>
          <a:xfrm>
            <a:off x="6126480" y="3831336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SNOI/ANSI · Conseil Café-Cacao · DPV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CI · Conseil Café-Cacao · Coopératives · Banque Mondiale · Ministère Agriculture CI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B3A2A">
              <a:alpha val="35000"/>
            </a:srgbClr>
          </a:solidFill>
          <a:ln w="12700">
            <a:solidFill>
              <a:srgbClr val="6B3A2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2D5016">
              <a:alpha val="40000"/>
            </a:srgbClr>
          </a:solidFill>
          <a:ln w="12700">
            <a:solidFill>
              <a:srgbClr val="2D50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C17F3E">
              <a:alpha val="30000"/>
            </a:srgbClr>
          </a:solidFill>
          <a:ln w="12700">
            <a:solidFill>
              <a:srgbClr val="C17F3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3200400" cy="36576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 Intelligent — AgriTech Innovators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KESSIE Eric-Uriel  ·  DIARRASSOUBA Emmanuel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7706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KONAN Nethania  ·  COULIBALY Yasmine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1181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17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ESATIC — Abidjan, Côte d'Ivoire  |  Mars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6858000" cy="822960"/>
          </a:xfrm>
          <a:prstGeom prst="rect">
            <a:avLst/>
          </a:prstGeom>
          <a:solidFill>
            <a:srgbClr val="2D5016">
              <a:alpha val="80000"/>
            </a:srgbClr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3" name="Text 11"/>
          <p:cNvSpPr/>
          <p:nvPr/>
        </p:nvSpPr>
        <p:spPr>
          <a:xfrm>
            <a:off x="502920" y="3401568"/>
            <a:ext cx="6583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 données terrain en temps réel pour chaque planteur ivoirien —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parcelle GPS au marché mondial, avec conformité EUDR garantie."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Digital ID Hackathon 2026  ·  Agriculture · IoT · IA · Identité Numérique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1236</Words>
  <Application>Microsoft Office PowerPoint</Application>
  <PresentationFormat>Affichage à l'écran (16:9)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Cacao Intelligent — AgriTech Innovators</dc:title>
  <dc:subject>PptxGenJS Presentation</dc:subject>
  <dc:creator>PptxGenJS</dc:creator>
  <cp:lastModifiedBy>Zirama Zie</cp:lastModifiedBy>
  <cp:revision>3</cp:revision>
  <dcterms:created xsi:type="dcterms:W3CDTF">2026-04-04T15:39:24Z</dcterms:created>
  <dcterms:modified xsi:type="dcterms:W3CDTF">2026-04-05T10:03:16Z</dcterms:modified>
</cp:coreProperties>
</file>